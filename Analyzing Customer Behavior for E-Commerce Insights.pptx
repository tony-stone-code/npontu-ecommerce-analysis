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Inter SemiBold"/>
      <p:regular r:id="rId17"/>
      <p:bold r:id="rId18"/>
      <p:italic r:id="rId19"/>
      <p:boldItalic r:id="rId20"/>
    </p:embeddedFont>
    <p:embeddedFont>
      <p:font typeface="Montserrat"/>
      <p:bold r:id="rId21"/>
      <p:boldItalic r:id="rId22"/>
    </p:embeddedFont>
    <p:embeddedFont>
      <p:font typeface="Int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SemiBold-regular.fntdata"/><Relationship Id="rId12" Type="http://schemas.openxmlformats.org/officeDocument/2006/relationships/slide" Target="slides/slide7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InterSemiBold-regular.fntdata"/><Relationship Id="rId16" Type="http://schemas.openxmlformats.org/officeDocument/2006/relationships/font" Target="fonts/MontserratSemiBold-boldItalic.fntdata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741517a9a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741517a9a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41517a9a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41517a9a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41517a9a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41517a9a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741517a9a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741517a9a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741517a9a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741517a9a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741517a9a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741517a9a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741517a9a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741517a9a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741517a9a_9_0)">
  <p:cSld name="Generated (g3f741517a9a_9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" name="Google Shape;5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38763" y="4763"/>
              <a:ext cx="3648000" cy="4981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8" name="Google Shape;58;p14"/>
            <p:cNvGrpSpPr/>
            <p:nvPr/>
          </p:nvGrpSpPr>
          <p:grpSpPr>
            <a:xfrm>
              <a:off x="457200" y="457200"/>
              <a:ext cx="514350" cy="514350"/>
              <a:chOff x="0" y="0"/>
              <a:chExt cx="342900" cy="342900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A2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114300" y="11430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2A9D8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1" name="Google Shape;61;p14"/>
          <p:cNvSpPr txBox="1"/>
          <p:nvPr/>
        </p:nvSpPr>
        <p:spPr>
          <a:xfrm>
            <a:off x="457200" y="1333500"/>
            <a:ext cx="57150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50">
                <a:solidFill>
                  <a:srgbClr val="1A2B4C"/>
                </a:solidFill>
                <a:latin typeface="Montserrat"/>
                <a:ea typeface="Montserrat"/>
                <a:cs typeface="Montserrat"/>
                <a:sym typeface="Montserrat"/>
              </a:rPr>
              <a:t>Analyzing Customer Behavior for</a:t>
            </a:r>
            <a:br>
              <a:rPr b="1" lang="en" sz="3150">
                <a:solidFill>
                  <a:srgbClr val="1A2B4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3150">
                <a:solidFill>
                  <a:srgbClr val="1A2B4C"/>
                </a:solidFill>
                <a:latin typeface="Montserrat"/>
                <a:ea typeface="Montserrat"/>
                <a:cs typeface="Montserrat"/>
                <a:sym typeface="Montserrat"/>
              </a:rPr>
              <a:t>E-Commerce Insights</a:t>
            </a:r>
            <a:endParaRPr b="1" sz="3150">
              <a:solidFill>
                <a:srgbClr val="1A2B4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2A9D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 End-to-End Pipeline for Predicting Churn</a:t>
            </a:r>
            <a:br>
              <a:rPr b="0" lang="en" sz="1800">
                <a:solidFill>
                  <a:srgbClr val="2A9D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b="0" lang="en" sz="1800">
                <a:solidFill>
                  <a:srgbClr val="2A9D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&amp; Driving Engagement</a:t>
            </a:r>
            <a:endParaRPr b="0" sz="1800">
              <a:solidFill>
                <a:srgbClr val="2A9D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36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A9D8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Presenter</a:t>
            </a:r>
            <a:endParaRPr b="0" sz="900">
              <a:solidFill>
                <a:srgbClr val="2A9D8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A2B4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Anthony Opoku-Acheampong</a:t>
            </a:r>
            <a:endParaRPr b="0" sz="1200">
              <a:solidFill>
                <a:srgbClr val="1A2B4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Intelligent Systems Services Engineer(NSS) Candidate</a:t>
            </a:r>
            <a:endParaRPr b="0" sz="975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7" name="Google Shape;67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0" y="0"/>
              <a:ext cx="152400" cy="51435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457200" y="457200"/>
              <a:ext cx="8229600" cy="4229100"/>
            </a:xfrm>
            <a:prstGeom prst="roundRect">
              <a:avLst>
                <a:gd fmla="val 2702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15"/>
          <p:cNvSpPr txBox="1"/>
          <p:nvPr/>
        </p:nvSpPr>
        <p:spPr>
          <a:xfrm>
            <a:off x="762000" y="714375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1A2B4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Moving From Raw Data to Actionable Insights</a:t>
            </a:r>
            <a:endParaRPr/>
          </a:p>
        </p:txBody>
      </p:sp>
      <p:grpSp>
        <p:nvGrpSpPr>
          <p:cNvPr id="71" name="Google Shape;71;p15"/>
          <p:cNvGrpSpPr/>
          <p:nvPr/>
        </p:nvGrpSpPr>
        <p:grpSpPr>
          <a:xfrm>
            <a:off x="762000" y="1381125"/>
            <a:ext cx="7619850" cy="1285800"/>
            <a:chOff x="0" y="0"/>
            <a:chExt cx="7619850" cy="1285800"/>
          </a:xfrm>
        </p:grpSpPr>
        <p:grpSp>
          <p:nvGrpSpPr>
            <p:cNvPr id="72" name="Google Shape;72;p15"/>
            <p:cNvGrpSpPr/>
            <p:nvPr/>
          </p:nvGrpSpPr>
          <p:grpSpPr>
            <a:xfrm>
              <a:off x="0" y="0"/>
              <a:ext cx="1619100" cy="1285800"/>
              <a:chOff x="0" y="0"/>
              <a:chExt cx="1619100" cy="1285800"/>
            </a:xfrm>
          </p:grpSpPr>
          <p:sp>
            <p:nvSpPr>
              <p:cNvPr id="73" name="Google Shape;73;p15"/>
              <p:cNvSpPr/>
              <p:nvPr/>
            </p:nvSpPr>
            <p:spPr>
              <a:xfrm>
                <a:off x="0" y="0"/>
                <a:ext cx="1619100" cy="1285800"/>
              </a:xfrm>
              <a:prstGeom prst="roundRect">
                <a:avLst>
                  <a:gd fmla="val 592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0" y="0"/>
                <a:ext cx="16191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1A2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0" y="38100"/>
                <a:ext cx="1619100" cy="38100"/>
              </a:xfrm>
              <a:prstGeom prst="rect">
                <a:avLst/>
              </a:prstGeom>
              <a:solidFill>
                <a:srgbClr val="1A2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5"/>
              <p:cNvSpPr txBox="1"/>
              <p:nvPr/>
            </p:nvSpPr>
            <p:spPr>
              <a:xfrm>
                <a:off x="114300" y="190500"/>
                <a:ext cx="13908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1A2B4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01 / DATA</a:t>
                </a:r>
                <a:endParaRPr b="0" sz="750">
                  <a:solidFill>
                    <a:srgbClr val="1A2B4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111827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Raw Ingestion</a:t>
                </a:r>
                <a:endParaRPr b="0" sz="975">
                  <a:solidFill>
                    <a:srgbClr val="11182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Ingesting ~2.5M activity logs across African markets.</a:t>
                </a:r>
                <a:endParaRPr b="0" sz="82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77" name="Google Shape;77;p15"/>
            <p:cNvSpPr/>
            <p:nvPr/>
          </p:nvSpPr>
          <p:spPr>
            <a:xfrm>
              <a:off x="1714500" y="581025"/>
              <a:ext cx="1905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lnTo>
                    <a:pt x="84000" y="0"/>
                  </a:lnTo>
                  <a:moveTo>
                    <a:pt x="120000" y="60000"/>
                  </a:moveTo>
                  <a:lnTo>
                    <a:pt x="84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2A9D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" name="Google Shape;78;p15"/>
            <p:cNvGrpSpPr/>
            <p:nvPr/>
          </p:nvGrpSpPr>
          <p:grpSpPr>
            <a:xfrm>
              <a:off x="2000250" y="0"/>
              <a:ext cx="1619100" cy="1285800"/>
              <a:chOff x="0" y="0"/>
              <a:chExt cx="1619100" cy="1285800"/>
            </a:xfrm>
          </p:grpSpPr>
          <p:sp>
            <p:nvSpPr>
              <p:cNvPr id="79" name="Google Shape;79;p15"/>
              <p:cNvSpPr/>
              <p:nvPr/>
            </p:nvSpPr>
            <p:spPr>
              <a:xfrm>
                <a:off x="0" y="0"/>
                <a:ext cx="1619100" cy="1285800"/>
              </a:xfrm>
              <a:prstGeom prst="roundRect">
                <a:avLst>
                  <a:gd fmla="val 592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0" y="0"/>
                <a:ext cx="16191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0" y="38100"/>
                <a:ext cx="1619100" cy="38100"/>
              </a:xfrm>
              <a:prstGeom prst="rect">
                <a:avLst/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5"/>
              <p:cNvSpPr txBox="1"/>
              <p:nvPr/>
            </p:nvSpPr>
            <p:spPr>
              <a:xfrm>
                <a:off x="114300" y="190500"/>
                <a:ext cx="13908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2A9D8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02 / PROCESSING</a:t>
                </a:r>
                <a:endParaRPr b="0" sz="750">
                  <a:solidFill>
                    <a:srgbClr val="2A9D8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111827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Pandas Pipeline</a:t>
                </a:r>
                <a:endParaRPr b="0" sz="975">
                  <a:solidFill>
                    <a:srgbClr val="11182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Profiling customer cohorts and cleaning data features.</a:t>
                </a:r>
                <a:endParaRPr b="0" sz="82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83" name="Google Shape;83;p15"/>
            <p:cNvSpPr/>
            <p:nvPr/>
          </p:nvSpPr>
          <p:spPr>
            <a:xfrm>
              <a:off x="3714750" y="581025"/>
              <a:ext cx="1905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lnTo>
                    <a:pt x="84000" y="0"/>
                  </a:lnTo>
                  <a:moveTo>
                    <a:pt x="120000" y="60000"/>
                  </a:moveTo>
                  <a:lnTo>
                    <a:pt x="84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2A9D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" name="Google Shape;84;p15"/>
            <p:cNvGrpSpPr/>
            <p:nvPr/>
          </p:nvGrpSpPr>
          <p:grpSpPr>
            <a:xfrm>
              <a:off x="4000500" y="0"/>
              <a:ext cx="1619100" cy="1285800"/>
              <a:chOff x="0" y="0"/>
              <a:chExt cx="1619100" cy="128580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0" y="0"/>
                <a:ext cx="1619100" cy="1285800"/>
              </a:xfrm>
              <a:prstGeom prst="roundRect">
                <a:avLst>
                  <a:gd fmla="val 592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0" y="0"/>
                <a:ext cx="16191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1A2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0" y="38100"/>
                <a:ext cx="1619100" cy="38100"/>
              </a:xfrm>
              <a:prstGeom prst="rect">
                <a:avLst/>
              </a:prstGeom>
              <a:solidFill>
                <a:srgbClr val="1A2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5"/>
              <p:cNvSpPr txBox="1"/>
              <p:nvPr/>
            </p:nvSpPr>
            <p:spPr>
              <a:xfrm>
                <a:off x="114300" y="190500"/>
                <a:ext cx="13908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1A2B4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03 / MODELING</a:t>
                </a:r>
                <a:endParaRPr b="0" sz="750">
                  <a:solidFill>
                    <a:srgbClr val="1A2B4C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111827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XGBoost Engine</a:t>
                </a:r>
                <a:endParaRPr b="0" sz="975">
                  <a:solidFill>
                    <a:srgbClr val="11182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Predicting churn risk metrics with high-accuracy ML models.</a:t>
                </a:r>
                <a:endParaRPr b="0" sz="82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89" name="Google Shape;89;p15"/>
            <p:cNvSpPr/>
            <p:nvPr/>
          </p:nvSpPr>
          <p:spPr>
            <a:xfrm>
              <a:off x="5715000" y="581025"/>
              <a:ext cx="190500" cy="1143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lnTo>
                    <a:pt x="84000" y="0"/>
                  </a:lnTo>
                  <a:moveTo>
                    <a:pt x="120000" y="60000"/>
                  </a:moveTo>
                  <a:lnTo>
                    <a:pt x="84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2A9D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" name="Google Shape;90;p15"/>
            <p:cNvGrpSpPr/>
            <p:nvPr/>
          </p:nvGrpSpPr>
          <p:grpSpPr>
            <a:xfrm>
              <a:off x="6000750" y="0"/>
              <a:ext cx="1619100" cy="1285800"/>
              <a:chOff x="0" y="0"/>
              <a:chExt cx="1619100" cy="12858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0" y="0"/>
                <a:ext cx="1619100" cy="1285800"/>
              </a:xfrm>
              <a:prstGeom prst="roundRect">
                <a:avLst>
                  <a:gd fmla="val 592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0" y="0"/>
                <a:ext cx="16191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0" y="38100"/>
                <a:ext cx="1619100" cy="38100"/>
              </a:xfrm>
              <a:prstGeom prst="rect">
                <a:avLst/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5"/>
              <p:cNvSpPr txBox="1"/>
              <p:nvPr/>
            </p:nvSpPr>
            <p:spPr>
              <a:xfrm>
                <a:off x="114300" y="190500"/>
                <a:ext cx="13908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2A9D8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04 / DASHBOARD</a:t>
                </a:r>
                <a:endParaRPr b="0" sz="750">
                  <a:solidFill>
                    <a:srgbClr val="2A9D8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111827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Real-Time Action</a:t>
                </a:r>
                <a:endParaRPr b="0" sz="975">
                  <a:solidFill>
                    <a:srgbClr val="11182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Visualizing trends via Elasticsearch and Kibana dashboards.</a:t>
                </a:r>
                <a:endParaRPr b="0" sz="82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5" name="Google Shape;95;p15"/>
          <p:cNvGrpSpPr/>
          <p:nvPr/>
        </p:nvGrpSpPr>
        <p:grpSpPr>
          <a:xfrm>
            <a:off x="762000" y="2905125"/>
            <a:ext cx="3667200" cy="1428900"/>
            <a:chOff x="0" y="0"/>
            <a:chExt cx="3667200" cy="1428900"/>
          </a:xfrm>
        </p:grpSpPr>
        <p:sp>
          <p:nvSpPr>
            <p:cNvPr id="96" name="Google Shape;96;p15"/>
            <p:cNvSpPr/>
            <p:nvPr/>
          </p:nvSpPr>
          <p:spPr>
            <a:xfrm>
              <a:off x="0" y="0"/>
              <a:ext cx="36672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" name="Google Shape;97;p15"/>
            <p:cNvGrpSpPr/>
            <p:nvPr/>
          </p:nvGrpSpPr>
          <p:grpSpPr>
            <a:xfrm>
              <a:off x="190500" y="190500"/>
              <a:ext cx="228600" cy="228600"/>
              <a:chOff x="0" y="0"/>
              <a:chExt cx="228600" cy="228600"/>
            </a:xfrm>
          </p:grpSpPr>
          <p:sp>
            <p:nvSpPr>
              <p:cNvPr id="98" name="Google Shape;98;p15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2A9D8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66675" y="76200"/>
                <a:ext cx="95400" cy="66600"/>
              </a:xfrm>
              <a:custGeom>
                <a:rect b="b" l="l" r="r" t="t"/>
                <a:pathLst>
                  <a:path extrusionOk="0" h="120000" w="120000">
                    <a:moveTo>
                      <a:pt x="0" y="68571"/>
                    </a:moveTo>
                    <a:lnTo>
                      <a:pt x="36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0" name="Google Shape;100;p15"/>
            <p:cNvSpPr txBox="1"/>
            <p:nvPr/>
          </p:nvSpPr>
          <p:spPr>
            <a:xfrm>
              <a:off x="514350" y="190500"/>
              <a:ext cx="2962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25">
                  <a:solidFill>
                    <a:srgbClr val="1A2B4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Strategic Objective</a:t>
              </a:r>
              <a:endParaRPr b="0" sz="1125">
                <a:solidFill>
                  <a:srgbClr val="1A2B4C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Predict customer churn early to deploy targeted retention campaigns and deliver highly personalized mobile user experiences across key African markets.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5"/>
          <p:cNvGrpSpPr/>
          <p:nvPr/>
        </p:nvGrpSpPr>
        <p:grpSpPr>
          <a:xfrm>
            <a:off x="4714875" y="2905125"/>
            <a:ext cx="3667200" cy="1428900"/>
            <a:chOff x="0" y="0"/>
            <a:chExt cx="3667200" cy="1428900"/>
          </a:xfrm>
        </p:grpSpPr>
        <p:sp>
          <p:nvSpPr>
            <p:cNvPr id="102" name="Google Shape;102;p15"/>
            <p:cNvSpPr/>
            <p:nvPr/>
          </p:nvSpPr>
          <p:spPr>
            <a:xfrm>
              <a:off x="0" y="0"/>
              <a:ext cx="3667200" cy="1428900"/>
            </a:xfrm>
            <a:prstGeom prst="roundRect">
              <a:avLst>
                <a:gd fmla="val 5333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228600" y="228600"/>
              <a:ext cx="15240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rgbClr val="1A2B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2.5M</a:t>
              </a:r>
              <a:endParaRPr b="1" sz="2700">
                <a:solidFill>
                  <a:srgbClr val="1A2B4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Activity Logs</a:t>
              </a:r>
              <a:endParaRPr b="0" sz="825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104" name="Google Shape;104;p15"/>
            <p:cNvCxnSpPr/>
            <p:nvPr/>
          </p:nvCxnSpPr>
          <p:spPr>
            <a:xfrm>
              <a:off x="1828800" y="333375"/>
              <a:ext cx="0" cy="7620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" name="Google Shape;105;p15"/>
            <p:cNvSpPr txBox="1"/>
            <p:nvPr/>
          </p:nvSpPr>
          <p:spPr>
            <a:xfrm>
              <a:off x="1981200" y="228600"/>
              <a:ext cx="15240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rgbClr val="2A9D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50K</a:t>
              </a:r>
              <a:endParaRPr b="1" sz="2700">
                <a:solidFill>
                  <a:srgbClr val="2A9D8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Active Users</a:t>
              </a:r>
              <a:endParaRPr b="0" sz="825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1A2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16"/>
            <p:cNvGrpSpPr/>
            <p:nvPr/>
          </p:nvGrpSpPr>
          <p:grpSpPr>
            <a:xfrm>
              <a:off x="8458200" y="228600"/>
              <a:ext cx="342900" cy="342900"/>
              <a:chOff x="0" y="0"/>
              <a:chExt cx="342900" cy="342900"/>
            </a:xfrm>
          </p:grpSpPr>
          <p:sp>
            <p:nvSpPr>
              <p:cNvPr id="114" name="Google Shape;114;p16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A2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6"/>
              <p:cNvSpPr/>
              <p:nvPr/>
            </p:nvSpPr>
            <p:spPr>
              <a:xfrm>
                <a:off x="114300" y="11430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2A9D8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6" name="Google Shape;116;p16"/>
          <p:cNvSpPr txBox="1"/>
          <p:nvPr/>
        </p:nvSpPr>
        <p:spPr>
          <a:xfrm>
            <a:off x="457200" y="381000"/>
            <a:ext cx="7620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2A9D8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User Demographics &amp; Behavior</a:t>
            </a:r>
            <a:endParaRPr b="0" sz="900">
              <a:solidFill>
                <a:srgbClr val="2A9D8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2B4C"/>
                </a:solidFill>
                <a:latin typeface="Montserrat"/>
                <a:ea typeface="Montserrat"/>
                <a:cs typeface="Montserrat"/>
                <a:sym typeface="Montserrat"/>
              </a:rPr>
              <a:t>Understanding Our Audience</a:t>
            </a:r>
            <a:endParaRPr b="1" sz="2400">
              <a:solidFill>
                <a:srgbClr val="1A2B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7" name="Google Shape;117;p16"/>
          <p:cNvGrpSpPr/>
          <p:nvPr/>
        </p:nvGrpSpPr>
        <p:grpSpPr>
          <a:xfrm>
            <a:off x="457200" y="1238250"/>
            <a:ext cx="3962400" cy="3333900"/>
            <a:chOff x="457200" y="1238250"/>
            <a:chExt cx="3962400" cy="3333900"/>
          </a:xfrm>
        </p:grpSpPr>
        <p:sp>
          <p:nvSpPr>
            <p:cNvPr id="118" name="Google Shape;118;p16"/>
            <p:cNvSpPr/>
            <p:nvPr/>
          </p:nvSpPr>
          <p:spPr>
            <a:xfrm>
              <a:off x="457200" y="1238250"/>
              <a:ext cx="3962400" cy="3333900"/>
            </a:xfrm>
            <a:prstGeom prst="roundRect">
              <a:avLst>
                <a:gd fmla="val 2285" name="adj"/>
              </a:avLst>
            </a:prstGeom>
            <a:solidFill>
              <a:srgbClr val="F3F4F6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685800" y="1466850"/>
              <a:ext cx="3505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Core Audience Insights</a:t>
              </a:r>
              <a:endParaRPr b="0" sz="1350">
                <a:solidFill>
                  <a:srgbClr val="11182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120" name="Google Shape;120;p16"/>
            <p:cNvGrpSpPr/>
            <p:nvPr/>
          </p:nvGrpSpPr>
          <p:grpSpPr>
            <a:xfrm>
              <a:off x="685800" y="1905000"/>
              <a:ext cx="3505200" cy="619200"/>
              <a:chOff x="685800" y="1905000"/>
              <a:chExt cx="3505200" cy="619200"/>
            </a:xfrm>
          </p:grpSpPr>
          <p:grpSp>
            <p:nvGrpSpPr>
              <p:cNvPr id="121" name="Google Shape;121;p16"/>
              <p:cNvGrpSpPr/>
              <p:nvPr/>
            </p:nvGrpSpPr>
            <p:grpSpPr>
              <a:xfrm>
                <a:off x="685800" y="1924050"/>
                <a:ext cx="228600" cy="228600"/>
                <a:chOff x="0" y="0"/>
                <a:chExt cx="228600" cy="228600"/>
              </a:xfrm>
            </p:grpSpPr>
            <p:sp>
              <p:nvSpPr>
                <p:cNvPr id="122" name="Google Shape;122;p16"/>
                <p:cNvSpPr/>
                <p:nvPr/>
              </p:nvSpPr>
              <p:spPr>
                <a:xfrm>
                  <a:off x="0" y="0"/>
                  <a:ext cx="228600" cy="228600"/>
                </a:xfrm>
                <a:prstGeom prst="ellipse">
                  <a:avLst/>
                </a:prstGeom>
                <a:solidFill>
                  <a:srgbClr val="2A9D8F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" name="Google Shape;123;p16"/>
                <p:cNvSpPr/>
                <p:nvPr/>
              </p:nvSpPr>
              <p:spPr>
                <a:xfrm>
                  <a:off x="66675" y="76200"/>
                  <a:ext cx="954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71"/>
                      </a:moveTo>
                      <a:lnTo>
                        <a:pt x="36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23825">
                  <a:solidFill>
                    <a:srgbClr val="2A9D8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4" name="Google Shape;124;p16"/>
              <p:cNvSpPr txBox="1"/>
              <p:nvPr/>
            </p:nvSpPr>
            <p:spPr>
              <a:xfrm>
                <a:off x="1028700" y="1905000"/>
                <a:ext cx="3162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1A2B4C"/>
                    </a:solidFill>
                    <a:latin typeface="Inter"/>
                    <a:ea typeface="Inter"/>
                    <a:cs typeface="Inter"/>
                    <a:sym typeface="Inter"/>
                  </a:rPr>
                  <a:t>Mobile First:</a:t>
                </a:r>
                <a:r>
                  <a:rPr b="0" lang="en" sz="105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 70% of sessions are mobile, characterized by shorter overall durations.</a:t>
                </a:r>
                <a:endParaRPr b="0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5" name="Google Shape;125;p16"/>
            <p:cNvGrpSpPr/>
            <p:nvPr/>
          </p:nvGrpSpPr>
          <p:grpSpPr>
            <a:xfrm>
              <a:off x="685800" y="2619375"/>
              <a:ext cx="3505200" cy="619200"/>
              <a:chOff x="685800" y="2619375"/>
              <a:chExt cx="3505200" cy="619200"/>
            </a:xfrm>
          </p:grpSpPr>
          <p:grpSp>
            <p:nvGrpSpPr>
              <p:cNvPr id="126" name="Google Shape;126;p16"/>
              <p:cNvGrpSpPr/>
              <p:nvPr/>
            </p:nvGrpSpPr>
            <p:grpSpPr>
              <a:xfrm>
                <a:off x="685800" y="2638425"/>
                <a:ext cx="228600" cy="228600"/>
                <a:chOff x="0" y="0"/>
                <a:chExt cx="228600" cy="228600"/>
              </a:xfrm>
            </p:grpSpPr>
            <p:sp>
              <p:nvSpPr>
                <p:cNvPr id="127" name="Google Shape;127;p16"/>
                <p:cNvSpPr/>
                <p:nvPr/>
              </p:nvSpPr>
              <p:spPr>
                <a:xfrm>
                  <a:off x="0" y="0"/>
                  <a:ext cx="228600" cy="228600"/>
                </a:xfrm>
                <a:prstGeom prst="ellipse">
                  <a:avLst/>
                </a:prstGeom>
                <a:solidFill>
                  <a:srgbClr val="2A9D8F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" name="Google Shape;128;p16"/>
                <p:cNvSpPr/>
                <p:nvPr/>
              </p:nvSpPr>
              <p:spPr>
                <a:xfrm>
                  <a:off x="66675" y="76200"/>
                  <a:ext cx="954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71"/>
                      </a:moveTo>
                      <a:lnTo>
                        <a:pt x="36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23825">
                  <a:solidFill>
                    <a:srgbClr val="2A9D8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9" name="Google Shape;129;p16"/>
              <p:cNvSpPr txBox="1"/>
              <p:nvPr/>
            </p:nvSpPr>
            <p:spPr>
              <a:xfrm>
                <a:off x="1028700" y="2619375"/>
                <a:ext cx="3162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1A2B4C"/>
                    </a:solidFill>
                    <a:latin typeface="Inter"/>
                    <a:ea typeface="Inter"/>
                    <a:cs typeface="Inter"/>
                    <a:sym typeface="Inter"/>
                  </a:rPr>
                  <a:t>Payments:</a:t>
                </a:r>
                <a:r>
                  <a:rPr b="0" lang="en" sz="105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 Mobile Money dominates transactions in West and East Africa, while Credit Cards remain strong in South Africa.</a:t>
                </a:r>
                <a:endParaRPr b="0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0" name="Google Shape;130;p16"/>
            <p:cNvGrpSpPr/>
            <p:nvPr/>
          </p:nvGrpSpPr>
          <p:grpSpPr>
            <a:xfrm>
              <a:off x="685800" y="3333750"/>
              <a:ext cx="3505200" cy="619200"/>
              <a:chOff x="685800" y="3333750"/>
              <a:chExt cx="3505200" cy="619200"/>
            </a:xfrm>
          </p:grpSpPr>
          <p:grpSp>
            <p:nvGrpSpPr>
              <p:cNvPr id="131" name="Google Shape;131;p16"/>
              <p:cNvGrpSpPr/>
              <p:nvPr/>
            </p:nvGrpSpPr>
            <p:grpSpPr>
              <a:xfrm>
                <a:off x="685800" y="3352800"/>
                <a:ext cx="228600" cy="228600"/>
                <a:chOff x="0" y="0"/>
                <a:chExt cx="228600" cy="228600"/>
              </a:xfrm>
            </p:grpSpPr>
            <p:sp>
              <p:nvSpPr>
                <p:cNvPr id="132" name="Google Shape;132;p16"/>
                <p:cNvSpPr/>
                <p:nvPr/>
              </p:nvSpPr>
              <p:spPr>
                <a:xfrm>
                  <a:off x="0" y="0"/>
                  <a:ext cx="228600" cy="228600"/>
                </a:xfrm>
                <a:prstGeom prst="ellipse">
                  <a:avLst/>
                </a:prstGeom>
                <a:solidFill>
                  <a:srgbClr val="E76F51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14300" y="57150"/>
                  <a:ext cx="0" cy="954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0" y="72000"/>
                      </a:lnTo>
                      <a:moveTo>
                        <a:pt x="0" y="120000"/>
                      </a:moveTo>
                      <a:lnTo>
                        <a:pt x="120000" y="12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23825">
                  <a:solidFill>
                    <a:srgbClr val="E76F5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4" name="Google Shape;134;p16"/>
              <p:cNvSpPr txBox="1"/>
              <p:nvPr/>
            </p:nvSpPr>
            <p:spPr>
              <a:xfrm>
                <a:off x="1028700" y="3333750"/>
                <a:ext cx="3162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1A2B4C"/>
                    </a:solidFill>
                    <a:latin typeface="Inter"/>
                    <a:ea typeface="Inter"/>
                    <a:cs typeface="Inter"/>
                    <a:sym typeface="Inter"/>
                  </a:rPr>
                  <a:t>Benchmark:</a:t>
                </a:r>
                <a:r>
                  <a:rPr b="0" lang="en" sz="105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 Standard operational performance shows the platform averages a ~25% churn rate.</a:t>
                </a:r>
                <a:endParaRPr b="0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5" name="Google Shape;135;p16"/>
          <p:cNvGrpSpPr/>
          <p:nvPr/>
        </p:nvGrpSpPr>
        <p:grpSpPr>
          <a:xfrm>
            <a:off x="4724400" y="1238250"/>
            <a:ext cx="3962400" cy="3333900"/>
            <a:chOff x="4724400" y="1238250"/>
            <a:chExt cx="3962400" cy="3333900"/>
          </a:xfrm>
        </p:grpSpPr>
        <p:sp>
          <p:nvSpPr>
            <p:cNvPr id="136" name="Google Shape;136;p16"/>
            <p:cNvSpPr/>
            <p:nvPr/>
          </p:nvSpPr>
          <p:spPr>
            <a:xfrm>
              <a:off x="4724400" y="1238250"/>
              <a:ext cx="3962400" cy="3333900"/>
            </a:xfrm>
            <a:prstGeom prst="roundRect">
              <a:avLst>
                <a:gd fmla="val 2285" name="adj"/>
              </a:avLst>
            </a:prstGeom>
            <a:solidFill>
              <a:srgbClr val="F3F4F6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4953000" y="1466850"/>
              <a:ext cx="3505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Device Type Session Split</a:t>
              </a:r>
              <a:endParaRPr b="0" sz="1350">
                <a:solidFill>
                  <a:srgbClr val="11182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138" name="Google Shape;138;p16"/>
            <p:cNvGrpSpPr/>
            <p:nvPr/>
          </p:nvGrpSpPr>
          <p:grpSpPr>
            <a:xfrm>
              <a:off x="5962650" y="2076450"/>
              <a:ext cx="1524000" cy="1562100"/>
              <a:chOff x="5962650" y="2076450"/>
              <a:chExt cx="1524000" cy="1562100"/>
            </a:xfrm>
          </p:grpSpPr>
          <p:sp>
            <p:nvSpPr>
              <p:cNvPr id="139" name="Google Shape;139;p16"/>
              <p:cNvSpPr/>
              <p:nvPr/>
            </p:nvSpPr>
            <p:spPr>
              <a:xfrm>
                <a:off x="6038850" y="2190750"/>
                <a:ext cx="1333500" cy="1333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228600">
                <a:solidFill>
                  <a:srgbClr val="1A2B4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40" name="Google Shape;140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962650" y="2076450"/>
                <a:ext cx="1524000" cy="1562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" name="Google Shape;141;p16"/>
              <p:cNvSpPr txBox="1"/>
              <p:nvPr/>
            </p:nvSpPr>
            <p:spPr>
              <a:xfrm>
                <a:off x="6134100" y="2524125"/>
                <a:ext cx="1143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400">
                    <a:solidFill>
                      <a:srgbClr val="1A2B4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70%</a:t>
                </a:r>
                <a:endParaRPr b="1" sz="2400">
                  <a:solidFill>
                    <a:srgbClr val="1A2B4C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Mobile</a:t>
                </a:r>
                <a:endParaRPr b="0" sz="7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42" name="Google Shape;142;p16"/>
            <p:cNvGrpSpPr/>
            <p:nvPr/>
          </p:nvGrpSpPr>
          <p:grpSpPr>
            <a:xfrm>
              <a:off x="5191125" y="3952875"/>
              <a:ext cx="1333500" cy="190500"/>
              <a:chOff x="0" y="0"/>
              <a:chExt cx="1333500" cy="190500"/>
            </a:xfrm>
          </p:grpSpPr>
          <p:sp>
            <p:nvSpPr>
              <p:cNvPr id="143" name="Google Shape;143;p16"/>
              <p:cNvSpPr/>
              <p:nvPr/>
            </p:nvSpPr>
            <p:spPr>
              <a:xfrm>
                <a:off x="0" y="28575"/>
                <a:ext cx="114300" cy="114300"/>
              </a:xfrm>
              <a:prstGeom prst="roundRect">
                <a:avLst>
                  <a:gd fmla="val 16666" name="adj"/>
                </a:avLst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6"/>
              <p:cNvSpPr txBox="1"/>
              <p:nvPr/>
            </p:nvSpPr>
            <p:spPr>
              <a:xfrm>
                <a:off x="190500" y="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Mobile Sessions</a:t>
                </a:r>
                <a:endParaRPr b="0" sz="82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45" name="Google Shape;145;p16"/>
            <p:cNvGrpSpPr/>
            <p:nvPr/>
          </p:nvGrpSpPr>
          <p:grpSpPr>
            <a:xfrm>
              <a:off x="6905625" y="3952875"/>
              <a:ext cx="1428900" cy="190500"/>
              <a:chOff x="0" y="0"/>
              <a:chExt cx="1428900" cy="190500"/>
            </a:xfrm>
          </p:grpSpPr>
          <p:sp>
            <p:nvSpPr>
              <p:cNvPr id="146" name="Google Shape;146;p16"/>
              <p:cNvSpPr/>
              <p:nvPr/>
            </p:nvSpPr>
            <p:spPr>
              <a:xfrm>
                <a:off x="0" y="28575"/>
                <a:ext cx="114300" cy="114300"/>
              </a:xfrm>
              <a:prstGeom prst="roundRect">
                <a:avLst>
                  <a:gd fmla="val 16666" name="adj"/>
                </a:avLst>
              </a:prstGeom>
              <a:solidFill>
                <a:srgbClr val="1A2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6"/>
              <p:cNvSpPr txBox="1"/>
              <p:nvPr/>
            </p:nvSpPr>
            <p:spPr>
              <a:xfrm>
                <a:off x="190500" y="0"/>
                <a:ext cx="1238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Desktop Sessions</a:t>
                </a:r>
                <a:endParaRPr b="0" sz="82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3" name="Google Shape;153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1A2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" name="Google Shape;155;p17"/>
            <p:cNvGrpSpPr/>
            <p:nvPr/>
          </p:nvGrpSpPr>
          <p:grpSpPr>
            <a:xfrm>
              <a:off x="8458200" y="228600"/>
              <a:ext cx="342900" cy="342900"/>
              <a:chOff x="0" y="0"/>
              <a:chExt cx="342900" cy="342900"/>
            </a:xfrm>
          </p:grpSpPr>
          <p:sp>
            <p:nvSpPr>
              <p:cNvPr id="156" name="Google Shape;156;p17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A2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7"/>
              <p:cNvSpPr/>
              <p:nvPr/>
            </p:nvSpPr>
            <p:spPr>
              <a:xfrm>
                <a:off x="114300" y="11430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2A9D8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8" name="Google Shape;158;p17"/>
          <p:cNvSpPr txBox="1"/>
          <p:nvPr/>
        </p:nvSpPr>
        <p:spPr>
          <a:xfrm>
            <a:off x="457200" y="4572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50">
                <a:solidFill>
                  <a:srgbClr val="1A2B4C"/>
                </a:solidFill>
                <a:latin typeface="Montserrat"/>
                <a:ea typeface="Montserrat"/>
                <a:cs typeface="Montserrat"/>
                <a:sym typeface="Montserrat"/>
              </a:rPr>
              <a:t>What Predicts Behavior?</a:t>
            </a:r>
            <a:endParaRPr b="1" sz="3150">
              <a:solidFill>
                <a:srgbClr val="1A2B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9" name="Google Shape;159;p17"/>
          <p:cNvGrpSpPr/>
          <p:nvPr/>
        </p:nvGrpSpPr>
        <p:grpSpPr>
          <a:xfrm>
            <a:off x="457200" y="1333500"/>
            <a:ext cx="3962400" cy="1524000"/>
            <a:chOff x="457200" y="1333500"/>
            <a:chExt cx="3962400" cy="1524000"/>
          </a:xfrm>
        </p:grpSpPr>
        <p:sp>
          <p:nvSpPr>
            <p:cNvPr id="160" name="Google Shape;160;p17"/>
            <p:cNvSpPr/>
            <p:nvPr/>
          </p:nvSpPr>
          <p:spPr>
            <a:xfrm>
              <a:off x="457200" y="1333500"/>
              <a:ext cx="3962400" cy="1524000"/>
            </a:xfrm>
            <a:prstGeom prst="roundRect">
              <a:avLst>
                <a:gd fmla="val 750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647700" y="1619250"/>
              <a:ext cx="381000" cy="381000"/>
            </a:xfrm>
            <a:prstGeom prst="ellipse">
              <a:avLst/>
            </a:prstGeom>
            <a:solidFill>
              <a:srgbClr val="2A9D8F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" name="Google Shape;162;p17"/>
            <p:cNvGrpSpPr/>
            <p:nvPr/>
          </p:nvGrpSpPr>
          <p:grpSpPr>
            <a:xfrm>
              <a:off x="742950" y="1704975"/>
              <a:ext cx="190500" cy="200175"/>
              <a:chOff x="19050" y="9525"/>
              <a:chExt cx="190500" cy="200175"/>
            </a:xfrm>
          </p:grpSpPr>
          <p:sp>
            <p:nvSpPr>
              <p:cNvPr id="163" name="Google Shape;163;p17"/>
              <p:cNvSpPr/>
              <p:nvPr/>
            </p:nvSpPr>
            <p:spPr>
              <a:xfrm>
                <a:off x="19050" y="38100"/>
                <a:ext cx="190500" cy="171600"/>
              </a:xfrm>
              <a:prstGeom prst="roundRect">
                <a:avLst>
                  <a:gd fmla="val 16666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64" name="Google Shape;164;p17"/>
              <p:cNvCxnSpPr/>
              <p:nvPr/>
            </p:nvCxnSpPr>
            <p:spPr>
              <a:xfrm>
                <a:off x="66675" y="9525"/>
                <a:ext cx="0" cy="38100"/>
              </a:xfrm>
              <a:prstGeom prst="straightConnector1">
                <a:avLst/>
              </a:prstGeom>
              <a:solidFill>
                <a:srgbClr val="FFFFFF"/>
              </a:solidFill>
              <a:ln cap="rnd" cmpd="sng" w="19050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" name="Google Shape;165;p17"/>
              <p:cNvCxnSpPr/>
              <p:nvPr/>
            </p:nvCxnSpPr>
            <p:spPr>
              <a:xfrm>
                <a:off x="161925" y="9525"/>
                <a:ext cx="0" cy="38100"/>
              </a:xfrm>
              <a:prstGeom prst="straightConnector1">
                <a:avLst/>
              </a:prstGeom>
              <a:solidFill>
                <a:srgbClr val="FFFFFF"/>
              </a:solidFill>
              <a:ln cap="rnd" cmpd="sng" w="19050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17"/>
              <p:cNvCxnSpPr/>
              <p:nvPr/>
            </p:nvCxnSpPr>
            <p:spPr>
              <a:xfrm>
                <a:off x="19050" y="95250"/>
                <a:ext cx="190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7" name="Google Shape;167;p17"/>
              <p:cNvSpPr/>
              <p:nvPr/>
            </p:nvSpPr>
            <p:spPr>
              <a:xfrm>
                <a:off x="52388" y="128588"/>
                <a:ext cx="28500" cy="285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7"/>
              <p:cNvSpPr/>
              <p:nvPr/>
            </p:nvSpPr>
            <p:spPr>
              <a:xfrm>
                <a:off x="100013" y="128588"/>
                <a:ext cx="28500" cy="285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7"/>
              <p:cNvSpPr/>
              <p:nvPr/>
            </p:nvSpPr>
            <p:spPr>
              <a:xfrm>
                <a:off x="147638" y="128588"/>
                <a:ext cx="28500" cy="285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0" name="Google Shape;170;p17"/>
            <p:cNvSpPr/>
            <p:nvPr/>
          </p:nvSpPr>
          <p:spPr>
            <a:xfrm>
              <a:off x="647700" y="2114550"/>
              <a:ext cx="381000" cy="381000"/>
            </a:xfrm>
            <a:prstGeom prst="ellipse">
              <a:avLst/>
            </a:prstGeom>
            <a:solidFill>
              <a:srgbClr val="2A9D8F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1" name="Google Shape;171;p17"/>
            <p:cNvGrpSpPr/>
            <p:nvPr/>
          </p:nvGrpSpPr>
          <p:grpSpPr>
            <a:xfrm>
              <a:off x="742950" y="2219325"/>
              <a:ext cx="190500" cy="171450"/>
              <a:chOff x="19050" y="28575"/>
              <a:chExt cx="190500" cy="171450"/>
            </a:xfrm>
          </p:grpSpPr>
          <p:sp>
            <p:nvSpPr>
              <p:cNvPr id="172" name="Google Shape;172;p17"/>
              <p:cNvSpPr/>
              <p:nvPr/>
            </p:nvSpPr>
            <p:spPr>
              <a:xfrm>
                <a:off x="19050" y="28575"/>
                <a:ext cx="1905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24000" y="0"/>
                    </a:lnTo>
                    <a:lnTo>
                      <a:pt x="42000" y="120000"/>
                    </a:lnTo>
                    <a:lnTo>
                      <a:pt x="102000" y="120000"/>
                    </a:lnTo>
                    <a:lnTo>
                      <a:pt x="120000" y="24000"/>
                    </a:lnTo>
                    <a:lnTo>
                      <a:pt x="30000" y="24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76200" y="161925"/>
                <a:ext cx="38100" cy="381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142875" y="161925"/>
                <a:ext cx="38100" cy="381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5" name="Google Shape;175;p17"/>
            <p:cNvSpPr txBox="1"/>
            <p:nvPr/>
          </p:nvSpPr>
          <p:spPr>
            <a:xfrm>
              <a:off x="1257300" y="1562100"/>
              <a:ext cx="2933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A2B4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RFM Metrics</a:t>
              </a:r>
              <a:endParaRPr b="0" sz="1350">
                <a:solidFill>
                  <a:srgbClr val="1A2B4C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Recency, Frequency, and Monetary value.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6" name="Google Shape;176;p17"/>
          <p:cNvGrpSpPr/>
          <p:nvPr/>
        </p:nvGrpSpPr>
        <p:grpSpPr>
          <a:xfrm>
            <a:off x="457200" y="3048000"/>
            <a:ext cx="3962400" cy="1524000"/>
            <a:chOff x="457200" y="3048000"/>
            <a:chExt cx="3962400" cy="1524000"/>
          </a:xfrm>
        </p:grpSpPr>
        <p:sp>
          <p:nvSpPr>
            <p:cNvPr id="177" name="Google Shape;177;p17"/>
            <p:cNvSpPr/>
            <p:nvPr/>
          </p:nvSpPr>
          <p:spPr>
            <a:xfrm>
              <a:off x="457200" y="3048000"/>
              <a:ext cx="3962400" cy="1524000"/>
            </a:xfrm>
            <a:prstGeom prst="roundRect">
              <a:avLst>
                <a:gd fmla="val 750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647700" y="3619500"/>
              <a:ext cx="381000" cy="381000"/>
            </a:xfrm>
            <a:prstGeom prst="ellipse">
              <a:avLst/>
            </a:prstGeom>
            <a:solidFill>
              <a:srgbClr val="2A9D8F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9" name="Google Shape;179;p17"/>
            <p:cNvGrpSpPr/>
            <p:nvPr/>
          </p:nvGrpSpPr>
          <p:grpSpPr>
            <a:xfrm>
              <a:off x="742950" y="3714750"/>
              <a:ext cx="190500" cy="190500"/>
              <a:chOff x="19050" y="19050"/>
              <a:chExt cx="190500" cy="190500"/>
            </a:xfrm>
          </p:grpSpPr>
          <p:sp>
            <p:nvSpPr>
              <p:cNvPr id="180" name="Google Shape;180;p17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7"/>
              <p:cNvSpPr/>
              <p:nvPr/>
            </p:nvSpPr>
            <p:spPr>
              <a:xfrm>
                <a:off x="114300" y="57150"/>
                <a:ext cx="477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2" name="Google Shape;182;p17"/>
            <p:cNvSpPr txBox="1"/>
            <p:nvPr/>
          </p:nvSpPr>
          <p:spPr>
            <a:xfrm>
              <a:off x="1257300" y="3276600"/>
              <a:ext cx="2933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A2B4C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Engagement</a:t>
              </a:r>
              <a:endParaRPr b="0" sz="1350">
                <a:solidFill>
                  <a:srgbClr val="1A2B4C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Session duration, bounce rates, total sessions.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3" name="Google Shape;183;p17"/>
          <p:cNvGrpSpPr/>
          <p:nvPr/>
        </p:nvGrpSpPr>
        <p:grpSpPr>
          <a:xfrm>
            <a:off x="4724400" y="1333500"/>
            <a:ext cx="3962400" cy="3238500"/>
            <a:chOff x="4724400" y="1333500"/>
            <a:chExt cx="3962400" cy="3238500"/>
          </a:xfrm>
        </p:grpSpPr>
        <p:sp>
          <p:nvSpPr>
            <p:cNvPr id="184" name="Google Shape;184;p17"/>
            <p:cNvSpPr/>
            <p:nvPr/>
          </p:nvSpPr>
          <p:spPr>
            <a:xfrm>
              <a:off x="4724400" y="1333500"/>
              <a:ext cx="3962400" cy="3238500"/>
            </a:xfrm>
            <a:prstGeom prst="roundRect">
              <a:avLst>
                <a:gd fmla="val 3529" name="adj"/>
              </a:avLst>
            </a:prstGeom>
            <a:solidFill>
              <a:srgbClr val="1A2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4724400" y="1333500"/>
              <a:ext cx="76200" cy="3238500"/>
            </a:xfrm>
            <a:prstGeom prst="roundRect">
              <a:avLst>
                <a:gd fmla="val 50000" name="adj"/>
              </a:avLst>
            </a:pr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5029200" y="1638300"/>
              <a:ext cx="643050" cy="285750"/>
            </a:xfrm>
            <a:custGeom>
              <a:rect b="b" l="l" r="r" t="t"/>
              <a:pathLst>
                <a:path extrusionOk="0" h="120000" w="120000">
                  <a:moveTo>
                    <a:pt x="26667" y="120000"/>
                  </a:moveTo>
                  <a:quadBezTo>
                    <a:pt x="26667" y="60000"/>
                    <a:pt x="53333" y="60000"/>
                  </a:quadBezTo>
                  <a:lnTo>
                    <a:pt x="53333" y="0"/>
                  </a:lnTo>
                  <a:quadBezTo>
                    <a:pt x="0" y="0"/>
                    <a:pt x="0" y="120000"/>
                  </a:quadBezTo>
                  <a:lnTo>
                    <a:pt x="26667" y="120000"/>
                  </a:lnTo>
                  <a:close/>
                  <a:moveTo>
                    <a:pt x="93333" y="120000"/>
                  </a:moveTo>
                  <a:quadBezTo>
                    <a:pt x="93333" y="60000"/>
                    <a:pt x="120000" y="60000"/>
                  </a:quadBezTo>
                  <a:lnTo>
                    <a:pt x="120000" y="0"/>
                  </a:lnTo>
                  <a:quadBezTo>
                    <a:pt x="66667" y="0"/>
                    <a:pt x="66667" y="120000"/>
                  </a:quadBezTo>
                  <a:lnTo>
                    <a:pt x="93333" y="120000"/>
                  </a:lnTo>
                  <a:close/>
                </a:path>
              </a:pathLst>
            </a:custGeom>
            <a:solidFill>
              <a:srgbClr val="2A9D8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 txBox="1"/>
            <p:nvPr/>
          </p:nvSpPr>
          <p:spPr>
            <a:xfrm>
              <a:off x="5029200" y="2209800"/>
              <a:ext cx="33528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"Total Sessions predicts retention better than past revenue."</a:t>
              </a:r>
              <a:endParaRPr b="0" sz="18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2A9D8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Finding</a:t>
              </a:r>
              <a:endParaRPr b="0" sz="900">
                <a:solidFill>
                  <a:srgbClr val="2A9D8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0" y="0"/>
              <a:ext cx="152400" cy="51435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457200" y="457200"/>
              <a:ext cx="8229600" cy="4229100"/>
            </a:xfrm>
            <a:prstGeom prst="roundRect">
              <a:avLst>
                <a:gd fmla="val 2702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762000" y="714375"/>
            <a:ext cx="7620000" cy="523875"/>
            <a:chOff x="762000" y="714375"/>
            <a:chExt cx="7620000" cy="523875"/>
          </a:xfrm>
        </p:grpSpPr>
        <p:sp>
          <p:nvSpPr>
            <p:cNvPr id="197" name="Google Shape;197;p18"/>
            <p:cNvSpPr txBox="1"/>
            <p:nvPr/>
          </p:nvSpPr>
          <p:spPr>
            <a:xfrm>
              <a:off x="762000" y="714375"/>
              <a:ext cx="571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1A2B4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Predicting Churn Before It Happens</a:t>
              </a:r>
              <a:endParaRPr b="1" sz="2100">
                <a:solidFill>
                  <a:srgbClr val="1A2B4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98" name="Google Shape;198;p18"/>
            <p:cNvGrpSpPr/>
            <p:nvPr/>
          </p:nvGrpSpPr>
          <p:grpSpPr>
            <a:xfrm>
              <a:off x="8001000" y="714375"/>
              <a:ext cx="342900" cy="342900"/>
              <a:chOff x="0" y="0"/>
              <a:chExt cx="342900" cy="342900"/>
            </a:xfrm>
          </p:grpSpPr>
          <p:sp>
            <p:nvSpPr>
              <p:cNvPr id="199" name="Google Shape;199;p18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A2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>
                <a:off x="114300" y="11430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2A9D8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1" name="Google Shape;201;p18"/>
            <p:cNvCxnSpPr/>
            <p:nvPr/>
          </p:nvCxnSpPr>
          <p:spPr>
            <a:xfrm>
              <a:off x="762000" y="123825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2" name="Google Shape;202;p18"/>
          <p:cNvSpPr txBox="1"/>
          <p:nvPr/>
        </p:nvSpPr>
        <p:spPr>
          <a:xfrm>
            <a:off x="762000" y="1476375"/>
            <a:ext cx="35244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E76F5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Challenge</a:t>
            </a:r>
            <a:endParaRPr b="0" sz="1350">
              <a:solidFill>
                <a:srgbClr val="E76F5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Highly imbalanced churn datasets.</a:t>
            </a:r>
            <a:endParaRPr b="0" sz="105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2A9D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Solution: XGBoost algorithm</a:t>
            </a:r>
            <a:endParaRPr b="0" sz="1350">
              <a:solidFill>
                <a:srgbClr val="2A9D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Advantage:</a:t>
            </a:r>
            <a:r>
              <a:rPr b="0" lang="en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Handles non-linear and missing data natively.</a:t>
            </a:r>
            <a:endParaRPr b="0" sz="105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  <a:r>
              <a:rPr b="0" lang="en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Isolates high-risk customers before the 60-day churn window.</a:t>
            </a:r>
            <a:endParaRPr b="0" sz="105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3" name="Google Shape;203;p18"/>
          <p:cNvGrpSpPr/>
          <p:nvPr/>
        </p:nvGrpSpPr>
        <p:grpSpPr>
          <a:xfrm>
            <a:off x="4572000" y="1476375"/>
            <a:ext cx="3810000" cy="2952900"/>
            <a:chOff x="0" y="0"/>
            <a:chExt cx="3810000" cy="2952900"/>
          </a:xfrm>
        </p:grpSpPr>
        <p:sp>
          <p:nvSpPr>
            <p:cNvPr id="204" name="Google Shape;204;p18"/>
            <p:cNvSpPr/>
            <p:nvPr/>
          </p:nvSpPr>
          <p:spPr>
            <a:xfrm>
              <a:off x="0" y="0"/>
              <a:ext cx="3810000" cy="2952900"/>
            </a:xfrm>
            <a:prstGeom prst="roundRect">
              <a:avLst>
                <a:gd fmla="val 258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228600" y="190500"/>
              <a:ext cx="33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Feature Importance</a:t>
              </a:r>
              <a:endParaRPr b="0" sz="9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206" name="Google Shape;206;p18"/>
            <p:cNvCxnSpPr/>
            <p:nvPr/>
          </p:nvCxnSpPr>
          <p:spPr>
            <a:xfrm>
              <a:off x="571500" y="2286000"/>
              <a:ext cx="28575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18"/>
            <p:cNvCxnSpPr/>
            <p:nvPr/>
          </p:nvCxnSpPr>
          <p:spPr>
            <a:xfrm>
              <a:off x="571500" y="571500"/>
              <a:ext cx="0" cy="17145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08" name="Google Shape;208;p18"/>
            <p:cNvGrpSpPr/>
            <p:nvPr/>
          </p:nvGrpSpPr>
          <p:grpSpPr>
            <a:xfrm>
              <a:off x="762000" y="619125"/>
              <a:ext cx="952500" cy="2219475"/>
              <a:chOff x="762000" y="619125"/>
              <a:chExt cx="952500" cy="2219475"/>
            </a:xfrm>
          </p:grpSpPr>
          <p:sp>
            <p:nvSpPr>
              <p:cNvPr id="209" name="Google Shape;209;p18"/>
              <p:cNvSpPr/>
              <p:nvPr/>
            </p:nvSpPr>
            <p:spPr>
              <a:xfrm>
                <a:off x="952500" y="857250"/>
                <a:ext cx="571500" cy="1428900"/>
              </a:xfrm>
              <a:prstGeom prst="roundRect">
                <a:avLst>
                  <a:gd fmla="val 6666" name="adj"/>
                </a:avLst>
              </a:prstGeom>
              <a:solidFill>
                <a:srgbClr val="1A2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8"/>
              <p:cNvSpPr txBox="1"/>
              <p:nvPr/>
            </p:nvSpPr>
            <p:spPr>
              <a:xfrm>
                <a:off x="857250" y="619125"/>
                <a:ext cx="76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5">
                    <a:solidFill>
                      <a:srgbClr val="1A2B4C"/>
                    </a:solidFill>
                    <a:latin typeface="Inter"/>
                    <a:ea typeface="Inter"/>
                    <a:cs typeface="Inter"/>
                    <a:sym typeface="Inter"/>
                  </a:rPr>
                  <a:t>0.45</a:t>
                </a:r>
                <a:endParaRPr b="1" sz="825">
                  <a:solidFill>
                    <a:srgbClr val="1A2B4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18"/>
              <p:cNvSpPr txBox="1"/>
              <p:nvPr/>
            </p:nvSpPr>
            <p:spPr>
              <a:xfrm>
                <a:off x="762000" y="2362200"/>
                <a:ext cx="952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38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Recency</a:t>
                </a:r>
                <a:endParaRPr b="0" sz="7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12" name="Google Shape;212;p18"/>
            <p:cNvGrpSpPr/>
            <p:nvPr/>
          </p:nvGrpSpPr>
          <p:grpSpPr>
            <a:xfrm>
              <a:off x="1905000" y="1095375"/>
              <a:ext cx="952500" cy="1743225"/>
              <a:chOff x="1905000" y="1095375"/>
              <a:chExt cx="952500" cy="1743225"/>
            </a:xfrm>
          </p:grpSpPr>
          <p:sp>
            <p:nvSpPr>
              <p:cNvPr id="213" name="Google Shape;213;p18"/>
              <p:cNvSpPr/>
              <p:nvPr/>
            </p:nvSpPr>
            <p:spPr>
              <a:xfrm>
                <a:off x="2095500" y="1333500"/>
                <a:ext cx="571500" cy="952500"/>
              </a:xfrm>
              <a:prstGeom prst="roundRect">
                <a:avLst>
                  <a:gd fmla="val 6666" name="adj"/>
                </a:avLst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8"/>
              <p:cNvSpPr txBox="1"/>
              <p:nvPr/>
            </p:nvSpPr>
            <p:spPr>
              <a:xfrm>
                <a:off x="2000250" y="1095375"/>
                <a:ext cx="76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25">
                    <a:solidFill>
                      <a:srgbClr val="2A9D8F"/>
                    </a:solidFill>
                    <a:latin typeface="Inter"/>
                    <a:ea typeface="Inter"/>
                    <a:cs typeface="Inter"/>
                    <a:sym typeface="Inter"/>
                  </a:rPr>
                  <a:t>0.30</a:t>
                </a:r>
                <a:endParaRPr b="1" sz="825">
                  <a:solidFill>
                    <a:srgbClr val="2A9D8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5" name="Google Shape;215;p18"/>
              <p:cNvSpPr txBox="1"/>
              <p:nvPr/>
            </p:nvSpPr>
            <p:spPr>
              <a:xfrm>
                <a:off x="1905000" y="2362200"/>
                <a:ext cx="952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38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Total Sessions</a:t>
                </a:r>
                <a:endParaRPr b="0" sz="7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21" name="Google Shape;221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1A2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" name="Google Shape;223;p19"/>
            <p:cNvGrpSpPr/>
            <p:nvPr/>
          </p:nvGrpSpPr>
          <p:grpSpPr>
            <a:xfrm>
              <a:off x="8458200" y="228600"/>
              <a:ext cx="342900" cy="342900"/>
              <a:chOff x="0" y="0"/>
              <a:chExt cx="342900" cy="342900"/>
            </a:xfrm>
          </p:grpSpPr>
          <p:sp>
            <p:nvSpPr>
              <p:cNvPr id="224" name="Google Shape;224;p19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A2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9"/>
              <p:cNvSpPr/>
              <p:nvPr/>
            </p:nvSpPr>
            <p:spPr>
              <a:xfrm>
                <a:off x="114300" y="11430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2A9D8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6" name="Google Shape;226;p19"/>
          <p:cNvSpPr txBox="1"/>
          <p:nvPr/>
        </p:nvSpPr>
        <p:spPr>
          <a:xfrm>
            <a:off x="457200" y="3429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50">
                <a:solidFill>
                  <a:srgbClr val="1A2B4C"/>
                </a:solidFill>
                <a:latin typeface="Montserrat"/>
                <a:ea typeface="Montserrat"/>
                <a:cs typeface="Montserrat"/>
                <a:sym typeface="Montserrat"/>
              </a:rPr>
              <a:t>What The Data Tells Us</a:t>
            </a:r>
            <a:endParaRPr b="1" sz="3150">
              <a:solidFill>
                <a:srgbClr val="1A2B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27" name="Google Shape;227;p19"/>
          <p:cNvGrpSpPr/>
          <p:nvPr/>
        </p:nvGrpSpPr>
        <p:grpSpPr>
          <a:xfrm>
            <a:off x="457200" y="1143000"/>
            <a:ext cx="3962400" cy="1619100"/>
            <a:chOff x="457200" y="1143000"/>
            <a:chExt cx="3962400" cy="1619100"/>
          </a:xfrm>
        </p:grpSpPr>
        <p:sp>
          <p:nvSpPr>
            <p:cNvPr id="228" name="Google Shape;228;p19"/>
            <p:cNvSpPr/>
            <p:nvPr/>
          </p:nvSpPr>
          <p:spPr>
            <a:xfrm>
              <a:off x="457200" y="1143000"/>
              <a:ext cx="3962400" cy="16191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685800" y="1428750"/>
              <a:ext cx="1047900" cy="1047900"/>
            </a:xfrm>
            <a:prstGeom prst="roundRect">
              <a:avLst>
                <a:gd fmla="val 7272" name="adj"/>
              </a:avLst>
            </a:prstGeom>
            <a:solidFill>
              <a:srgbClr val="2A9D8F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685800" y="1428750"/>
              <a:ext cx="1047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2A9D8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-50%</a:t>
              </a:r>
              <a:endParaRPr b="1" sz="2100">
                <a:solidFill>
                  <a:srgbClr val="2A9D8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2A9D8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CHURN</a:t>
              </a:r>
              <a:endParaRPr b="0" sz="750">
                <a:solidFill>
                  <a:srgbClr val="2A9D8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1905000" y="1371600"/>
              <a:ext cx="2286000" cy="11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1182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Loyalty Shield</a:t>
              </a:r>
              <a:endParaRPr b="0" sz="1350">
                <a:solidFill>
                  <a:srgbClr val="11182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Gold/Platinum tiers churn at half the rate of Bronze.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2" name="Google Shape;232;p19"/>
          <p:cNvGrpSpPr/>
          <p:nvPr/>
        </p:nvGrpSpPr>
        <p:grpSpPr>
          <a:xfrm>
            <a:off x="457200" y="2914650"/>
            <a:ext cx="3962400" cy="1771800"/>
            <a:chOff x="457200" y="2914650"/>
            <a:chExt cx="3962400" cy="1771800"/>
          </a:xfrm>
        </p:grpSpPr>
        <p:sp>
          <p:nvSpPr>
            <p:cNvPr id="233" name="Google Shape;233;p19"/>
            <p:cNvSpPr/>
            <p:nvPr/>
          </p:nvSpPr>
          <p:spPr>
            <a:xfrm>
              <a:off x="457200" y="2914650"/>
              <a:ext cx="3962400" cy="1771800"/>
            </a:xfrm>
            <a:prstGeom prst="roundRect">
              <a:avLst>
                <a:gd fmla="val 4301" name="adj"/>
              </a:avLst>
            </a:prstGeom>
            <a:solidFill>
              <a:srgbClr val="FFFFFF"/>
            </a:solidFill>
            <a:ln cap="flat" cmpd="sng" w="143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685800" y="3276600"/>
              <a:ext cx="1047900" cy="1047900"/>
            </a:xfrm>
            <a:prstGeom prst="roundRect">
              <a:avLst>
                <a:gd fmla="val 7272" name="adj"/>
              </a:avLst>
            </a:prstGeom>
            <a:solidFill>
              <a:srgbClr val="E76F51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" name="Google Shape;235;p19"/>
            <p:cNvGrpSpPr/>
            <p:nvPr/>
          </p:nvGrpSpPr>
          <p:grpSpPr>
            <a:xfrm>
              <a:off x="981075" y="3571875"/>
              <a:ext cx="457200" cy="457200"/>
              <a:chOff x="0" y="0"/>
              <a:chExt cx="228600" cy="228600"/>
            </a:xfrm>
          </p:grpSpPr>
          <p:sp>
            <p:nvSpPr>
              <p:cNvPr id="236" name="Google Shape;236;p19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E76F51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9"/>
              <p:cNvSpPr/>
              <p:nvPr/>
            </p:nvSpPr>
            <p:spPr>
              <a:xfrm>
                <a:off x="114300" y="57150"/>
                <a:ext cx="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72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E76F5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8" name="Google Shape;238;p19"/>
            <p:cNvSpPr txBox="1"/>
            <p:nvPr/>
          </p:nvSpPr>
          <p:spPr>
            <a:xfrm>
              <a:off x="1905000" y="3143250"/>
              <a:ext cx="2286000" cy="13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E76F5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Friction Points</a:t>
              </a:r>
              <a:endParaRPr b="0" sz="1350">
                <a:solidFill>
                  <a:srgbClr val="E76F5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High mobile bounce rates indicate checkout issues.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9" name="Google Shape;239;p19"/>
          <p:cNvGrpSpPr/>
          <p:nvPr/>
        </p:nvGrpSpPr>
        <p:grpSpPr>
          <a:xfrm>
            <a:off x="4724400" y="1143000"/>
            <a:ext cx="3962400" cy="3543300"/>
            <a:chOff x="4724400" y="1143000"/>
            <a:chExt cx="3962400" cy="3543300"/>
          </a:xfrm>
        </p:grpSpPr>
        <p:sp>
          <p:nvSpPr>
            <p:cNvPr id="240" name="Google Shape;240;p19"/>
            <p:cNvSpPr/>
            <p:nvPr/>
          </p:nvSpPr>
          <p:spPr>
            <a:xfrm>
              <a:off x="4724400" y="1143000"/>
              <a:ext cx="3962400" cy="3543300"/>
            </a:xfrm>
            <a:prstGeom prst="roundRect">
              <a:avLst>
                <a:gd fmla="val 2150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 txBox="1"/>
            <p:nvPr/>
          </p:nvSpPr>
          <p:spPr>
            <a:xfrm>
              <a:off x="4953000" y="1371600"/>
              <a:ext cx="3505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THE 60-DAY WALL</a:t>
              </a:r>
              <a:endParaRPr b="0" sz="9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Activity decay curve analysis</a:t>
              </a:r>
              <a:endParaRPr b="0" sz="10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242" name="Google Shape;242;p19"/>
            <p:cNvCxnSpPr/>
            <p:nvPr/>
          </p:nvCxnSpPr>
          <p:spPr>
            <a:xfrm>
              <a:off x="5200650" y="4000500"/>
              <a:ext cx="30099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43" name="Google Shape;24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00650" y="3043238"/>
              <a:ext cx="3009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00650" y="2090738"/>
              <a:ext cx="30099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00650" y="2095500"/>
              <a:ext cx="3009900" cy="189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19"/>
            <p:cNvSpPr/>
            <p:nvPr/>
          </p:nvSpPr>
          <p:spPr>
            <a:xfrm>
              <a:off x="5200650" y="2095500"/>
              <a:ext cx="3009900" cy="18096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30000" y="12632"/>
                  </a:lnTo>
                  <a:lnTo>
                    <a:pt x="60000" y="31579"/>
                  </a:lnTo>
                  <a:lnTo>
                    <a:pt x="90000" y="101053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2A9D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7" name="Google Shape;247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48550" y="1905000"/>
              <a:ext cx="19200" cy="20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19"/>
            <p:cNvSpPr/>
            <p:nvPr/>
          </p:nvSpPr>
          <p:spPr>
            <a:xfrm>
              <a:off x="7410450" y="3571875"/>
              <a:ext cx="95400" cy="95400"/>
            </a:xfrm>
            <a:prstGeom prst="ellipse">
              <a:avLst/>
            </a:prstGeom>
            <a:solidFill>
              <a:srgbClr val="E76F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9" name="Google Shape;249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43775" y="35052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p19"/>
            <p:cNvSpPr/>
            <p:nvPr/>
          </p:nvSpPr>
          <p:spPr>
            <a:xfrm>
              <a:off x="6981825" y="1628775"/>
              <a:ext cx="952500" cy="190500"/>
            </a:xfrm>
            <a:prstGeom prst="roundRect">
              <a:avLst>
                <a:gd fmla="val 20000" name="adj"/>
              </a:avLst>
            </a:prstGeom>
            <a:solidFill>
              <a:srgbClr val="E76F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 txBox="1"/>
            <p:nvPr/>
          </p:nvSpPr>
          <p:spPr>
            <a:xfrm>
              <a:off x="6981825" y="162877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45-Day Decay Wall</a:t>
              </a:r>
              <a:endParaRPr b="1" sz="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2" name="Google Shape;252;p19"/>
            <p:cNvSpPr txBox="1"/>
            <p:nvPr/>
          </p:nvSpPr>
          <p:spPr>
            <a:xfrm>
              <a:off x="5010150" y="4076700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0d</a:t>
              </a:r>
              <a:endParaRPr b="0" sz="7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6515100" y="4076700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30d</a:t>
              </a:r>
              <a:endParaRPr b="0" sz="7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4" name="Google Shape;254;p19"/>
            <p:cNvSpPr txBox="1"/>
            <p:nvPr/>
          </p:nvSpPr>
          <p:spPr>
            <a:xfrm>
              <a:off x="7267575" y="4076700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E76F51"/>
                  </a:solidFill>
                  <a:latin typeface="Inter"/>
                  <a:ea typeface="Inter"/>
                  <a:cs typeface="Inter"/>
                  <a:sym typeface="Inter"/>
                </a:rPr>
                <a:t>45d</a:t>
              </a:r>
              <a:endParaRPr b="1" sz="750">
                <a:solidFill>
                  <a:srgbClr val="E76F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8020050" y="4076700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60d</a:t>
              </a:r>
              <a:endParaRPr b="0" sz="7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6" name="Google Shape;256;p19"/>
            <p:cNvSpPr txBox="1"/>
            <p:nvPr/>
          </p:nvSpPr>
          <p:spPr>
            <a:xfrm>
              <a:off x="4724400" y="2000250"/>
              <a:ext cx="4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100%</a:t>
              </a:r>
              <a:endParaRPr b="0" sz="7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4724400" y="2952750"/>
              <a:ext cx="4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50%</a:t>
              </a:r>
              <a:endParaRPr b="0" sz="7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8" name="Google Shape;258;p19"/>
            <p:cNvSpPr txBox="1"/>
            <p:nvPr/>
          </p:nvSpPr>
          <p:spPr>
            <a:xfrm>
              <a:off x="4724400" y="3905250"/>
              <a:ext cx="4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0%</a:t>
              </a:r>
              <a:endParaRPr b="0" sz="7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64" name="Google Shape;264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0" y="0"/>
              <a:ext cx="9144000" cy="76200"/>
            </a:xfrm>
            <a:prstGeom prst="rect">
              <a:avLst/>
            </a:prstGeom>
            <a:solidFill>
              <a:srgbClr val="1A2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6" name="Google Shape;266;p20"/>
            <p:cNvGrpSpPr/>
            <p:nvPr/>
          </p:nvGrpSpPr>
          <p:grpSpPr>
            <a:xfrm>
              <a:off x="8458200" y="228600"/>
              <a:ext cx="342900" cy="342900"/>
              <a:chOff x="0" y="0"/>
              <a:chExt cx="342900" cy="342900"/>
            </a:xfrm>
          </p:grpSpPr>
          <p:sp>
            <p:nvSpPr>
              <p:cNvPr id="267" name="Google Shape;267;p20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1A2B4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0"/>
              <p:cNvSpPr/>
              <p:nvPr/>
            </p:nvSpPr>
            <p:spPr>
              <a:xfrm>
                <a:off x="114300" y="114300"/>
                <a:ext cx="2286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2A9D8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9" name="Google Shape;269;p20"/>
          <p:cNvSpPr txBox="1"/>
          <p:nvPr/>
        </p:nvSpPr>
        <p:spPr>
          <a:xfrm>
            <a:off x="457200" y="4572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50">
                <a:solidFill>
                  <a:srgbClr val="1A2B4C"/>
                </a:solidFill>
                <a:latin typeface="Montserrat"/>
                <a:ea typeface="Montserrat"/>
                <a:cs typeface="Montserrat"/>
                <a:sym typeface="Montserrat"/>
              </a:rPr>
              <a:t>Strategic Next Steps</a:t>
            </a:r>
            <a:endParaRPr b="1" sz="3150">
              <a:solidFill>
                <a:srgbClr val="1A2B4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70" name="Google Shape;270;p20"/>
          <p:cNvGrpSpPr/>
          <p:nvPr/>
        </p:nvGrpSpPr>
        <p:grpSpPr>
          <a:xfrm>
            <a:off x="457200" y="1524000"/>
            <a:ext cx="2590800" cy="3048000"/>
            <a:chOff x="0" y="0"/>
            <a:chExt cx="2590800" cy="3048000"/>
          </a:xfrm>
        </p:grpSpPr>
        <p:sp>
          <p:nvSpPr>
            <p:cNvPr id="271" name="Google Shape;271;p20"/>
            <p:cNvSpPr/>
            <p:nvPr/>
          </p:nvSpPr>
          <p:spPr>
            <a:xfrm>
              <a:off x="0" y="0"/>
              <a:ext cx="2590800" cy="3048000"/>
            </a:xfrm>
            <a:prstGeom prst="roundRect">
              <a:avLst>
                <a:gd fmla="val 4411" name="adj"/>
              </a:avLst>
            </a:prstGeom>
            <a:solidFill>
              <a:srgbClr val="1A2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0" y="0"/>
              <a:ext cx="2590800" cy="57300"/>
            </a:xfrm>
            <a:prstGeom prst="roundRect">
              <a:avLst>
                <a:gd fmla="val 50000" name="adj"/>
              </a:avLst>
            </a:prstGeom>
            <a:solidFill>
              <a:srgbClr val="E76F5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3" name="Google Shape;273;p20"/>
            <p:cNvGrpSpPr/>
            <p:nvPr/>
          </p:nvGrpSpPr>
          <p:grpSpPr>
            <a:xfrm>
              <a:off x="228600" y="266700"/>
              <a:ext cx="457200" cy="457200"/>
              <a:chOff x="0" y="0"/>
              <a:chExt cx="457200" cy="457200"/>
            </a:xfrm>
          </p:grpSpPr>
          <p:sp>
            <p:nvSpPr>
              <p:cNvPr id="274" name="Google Shape;274;p20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fmla="val 20833" name="adj"/>
                </a:avLst>
              </a:prstGeom>
              <a:solidFill>
                <a:srgbClr val="E76F51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0"/>
              <p:cNvSpPr/>
              <p:nvPr/>
            </p:nvSpPr>
            <p:spPr>
              <a:xfrm>
                <a:off x="95250" y="142875"/>
                <a:ext cx="266700" cy="171600"/>
              </a:xfrm>
              <a:custGeom>
                <a:rect b="b" l="l" r="r" t="t"/>
                <a:pathLst>
                  <a:path extrusionOk="0" h="120000" w="120000">
                    <a:moveTo>
                      <a:pt x="8571" y="0"/>
                    </a:moveTo>
                    <a:lnTo>
                      <a:pt x="111429" y="0"/>
                    </a:lnTo>
                    <a:cubicBezTo>
                      <a:pt x="116143" y="0"/>
                      <a:pt x="120000" y="6000"/>
                      <a:pt x="120000" y="13333"/>
                    </a:cubicBezTo>
                    <a:lnTo>
                      <a:pt x="120000" y="106667"/>
                    </a:lnTo>
                    <a:cubicBezTo>
                      <a:pt x="120000" y="114000"/>
                      <a:pt x="116143" y="120000"/>
                      <a:pt x="111429" y="120000"/>
                    </a:cubicBezTo>
                    <a:lnTo>
                      <a:pt x="8571" y="120000"/>
                    </a:lnTo>
                    <a:cubicBezTo>
                      <a:pt x="3857" y="120000"/>
                      <a:pt x="0" y="114000"/>
                      <a:pt x="0" y="106667"/>
                    </a:cubicBezTo>
                    <a:lnTo>
                      <a:pt x="0" y="13333"/>
                    </a:lnTo>
                    <a:cubicBezTo>
                      <a:pt x="0" y="6000"/>
                      <a:pt x="3857" y="0"/>
                      <a:pt x="85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E76F5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0"/>
              <p:cNvSpPr/>
              <p:nvPr/>
            </p:nvSpPr>
            <p:spPr>
              <a:xfrm>
                <a:off x="95250" y="161925"/>
                <a:ext cx="266700" cy="906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6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E76F5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7" name="Google Shape;277;p20"/>
            <p:cNvSpPr txBox="1"/>
            <p:nvPr/>
          </p:nvSpPr>
          <p:spPr>
            <a:xfrm>
              <a:off x="228600" y="914400"/>
              <a:ext cx="21336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Pre-emptive Re-engagement</a:t>
              </a:r>
              <a:endParaRPr b="1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E5E7EB"/>
                  </a:solidFill>
                  <a:latin typeface="Inter"/>
                  <a:ea typeface="Inter"/>
                  <a:cs typeface="Inter"/>
                  <a:sym typeface="Inter"/>
                </a:rPr>
                <a:t>Trigger emails/SMS at 21 days of inactivity.</a:t>
              </a:r>
              <a:endParaRPr b="0" sz="1050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8" name="Google Shape;278;p20"/>
          <p:cNvGrpSpPr/>
          <p:nvPr/>
        </p:nvGrpSpPr>
        <p:grpSpPr>
          <a:xfrm>
            <a:off x="3276600" y="1524000"/>
            <a:ext cx="2590800" cy="3048000"/>
            <a:chOff x="0" y="0"/>
            <a:chExt cx="2590800" cy="3048000"/>
          </a:xfrm>
        </p:grpSpPr>
        <p:sp>
          <p:nvSpPr>
            <p:cNvPr id="279" name="Google Shape;279;p20"/>
            <p:cNvSpPr/>
            <p:nvPr/>
          </p:nvSpPr>
          <p:spPr>
            <a:xfrm>
              <a:off x="0" y="0"/>
              <a:ext cx="2590800" cy="3048000"/>
            </a:xfrm>
            <a:prstGeom prst="roundRect">
              <a:avLst>
                <a:gd fmla="val 4411" name="adj"/>
              </a:avLst>
            </a:prstGeom>
            <a:solidFill>
              <a:srgbClr val="1A2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0" y="0"/>
              <a:ext cx="2590800" cy="57300"/>
            </a:xfrm>
            <a:prstGeom prst="roundRect">
              <a:avLst>
                <a:gd fmla="val 50000" name="adj"/>
              </a:avLst>
            </a:pr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1" name="Google Shape;281;p20"/>
            <p:cNvGrpSpPr/>
            <p:nvPr/>
          </p:nvGrpSpPr>
          <p:grpSpPr>
            <a:xfrm>
              <a:off x="228600" y="266700"/>
              <a:ext cx="457200" cy="457200"/>
              <a:chOff x="0" y="0"/>
              <a:chExt cx="457200" cy="457200"/>
            </a:xfrm>
          </p:grpSpPr>
          <p:sp>
            <p:nvSpPr>
              <p:cNvPr id="282" name="Google Shape;282;p20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fmla="val 20833" name="adj"/>
                </a:avLst>
              </a:prstGeom>
              <a:solidFill>
                <a:srgbClr val="2A9D8F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0"/>
              <p:cNvSpPr/>
              <p:nvPr/>
            </p:nvSpPr>
            <p:spPr>
              <a:xfrm>
                <a:off x="133350" y="133350"/>
                <a:ext cx="190500" cy="1620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70588"/>
                    </a:lnTo>
                    <a:cubicBezTo>
                      <a:pt x="120000" y="98824"/>
                      <a:pt x="102000" y="120000"/>
                      <a:pt x="78000" y="120000"/>
                    </a:cubicBezTo>
                    <a:lnTo>
                      <a:pt x="42000" y="120000"/>
                    </a:lnTo>
                    <a:cubicBezTo>
                      <a:pt x="18000" y="120000"/>
                      <a:pt x="0" y="98824"/>
                      <a:pt x="0" y="7058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0"/>
              <p:cNvSpPr/>
              <p:nvPr/>
            </p:nvSpPr>
            <p:spPr>
              <a:xfrm>
                <a:off x="171450" y="295275"/>
                <a:ext cx="114300" cy="477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lnTo>
                      <a:pt x="60000" y="120000"/>
                    </a:lnTo>
                    <a:moveTo>
                      <a:pt x="0" y="12000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0"/>
              <p:cNvSpPr/>
              <p:nvPr/>
            </p:nvSpPr>
            <p:spPr>
              <a:xfrm>
                <a:off x="85725" y="123825"/>
                <a:ext cx="266700" cy="47700"/>
              </a:xfrm>
              <a:custGeom>
                <a:rect b="b" l="l" r="r" t="t"/>
                <a:pathLst>
                  <a:path extrusionOk="0" h="120000" w="120000">
                    <a:moveTo>
                      <a:pt x="21429" y="120000"/>
                    </a:moveTo>
                    <a:lnTo>
                      <a:pt x="8571" y="120000"/>
                    </a:lnTo>
                    <a:cubicBezTo>
                      <a:pt x="4286" y="120000"/>
                      <a:pt x="0" y="100800"/>
                      <a:pt x="0" y="76800"/>
                    </a:cubicBezTo>
                    <a:lnTo>
                      <a:pt x="0" y="43200"/>
                    </a:lnTo>
                    <a:cubicBezTo>
                      <a:pt x="0" y="19200"/>
                      <a:pt x="3429" y="0"/>
                      <a:pt x="7714" y="0"/>
                    </a:cubicBezTo>
                    <a:lnTo>
                      <a:pt x="21429" y="0"/>
                    </a:lnTo>
                    <a:moveTo>
                      <a:pt x="98571" y="120000"/>
                    </a:moveTo>
                    <a:lnTo>
                      <a:pt x="111429" y="120000"/>
                    </a:lnTo>
                    <a:cubicBezTo>
                      <a:pt x="115714" y="120000"/>
                      <a:pt x="120000" y="100800"/>
                      <a:pt x="120000" y="76800"/>
                    </a:cubicBezTo>
                    <a:lnTo>
                      <a:pt x="120000" y="43200"/>
                    </a:lnTo>
                    <a:cubicBezTo>
                      <a:pt x="120000" y="19200"/>
                      <a:pt x="116571" y="0"/>
                      <a:pt x="112286" y="0"/>
                    </a:cubicBezTo>
                    <a:lnTo>
                      <a:pt x="98571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6" name="Google Shape;286;p20"/>
            <p:cNvSpPr txBox="1"/>
            <p:nvPr/>
          </p:nvSpPr>
          <p:spPr>
            <a:xfrm>
              <a:off x="228600" y="914400"/>
              <a:ext cx="21336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Reward Browsing</a:t>
              </a:r>
              <a:endParaRPr b="1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E5E7EB"/>
                  </a:solidFill>
                  <a:latin typeface="Inter"/>
                  <a:ea typeface="Inter"/>
                  <a:cs typeface="Inter"/>
                  <a:sym typeface="Inter"/>
                </a:rPr>
                <a:t>Gamify daily logins to boost total sessions.</a:t>
              </a:r>
              <a:endParaRPr b="0" sz="1050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7" name="Google Shape;287;p20"/>
          <p:cNvGrpSpPr/>
          <p:nvPr/>
        </p:nvGrpSpPr>
        <p:grpSpPr>
          <a:xfrm>
            <a:off x="6096000" y="1524000"/>
            <a:ext cx="2590800" cy="3048000"/>
            <a:chOff x="0" y="0"/>
            <a:chExt cx="2590800" cy="3048000"/>
          </a:xfrm>
        </p:grpSpPr>
        <p:sp>
          <p:nvSpPr>
            <p:cNvPr id="288" name="Google Shape;288;p20"/>
            <p:cNvSpPr/>
            <p:nvPr/>
          </p:nvSpPr>
          <p:spPr>
            <a:xfrm>
              <a:off x="0" y="0"/>
              <a:ext cx="2590800" cy="3048000"/>
            </a:xfrm>
            <a:prstGeom prst="roundRect">
              <a:avLst>
                <a:gd fmla="val 4411" name="adj"/>
              </a:avLst>
            </a:prstGeom>
            <a:solidFill>
              <a:srgbClr val="1A2B4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0" y="0"/>
              <a:ext cx="2590800" cy="57300"/>
            </a:xfrm>
            <a:prstGeom prst="roundRect">
              <a:avLst>
                <a:gd fmla="val 50000" name="adj"/>
              </a:avLst>
            </a:prstGeom>
            <a:solidFill>
              <a:srgbClr val="2A9D8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0" name="Google Shape;290;p20"/>
            <p:cNvGrpSpPr/>
            <p:nvPr/>
          </p:nvGrpSpPr>
          <p:grpSpPr>
            <a:xfrm>
              <a:off x="228600" y="266700"/>
              <a:ext cx="457200" cy="457200"/>
              <a:chOff x="0" y="0"/>
              <a:chExt cx="457200" cy="457200"/>
            </a:xfrm>
          </p:grpSpPr>
          <p:sp>
            <p:nvSpPr>
              <p:cNvPr id="291" name="Google Shape;291;p20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fmla="val 20833" name="adj"/>
                </a:avLst>
              </a:prstGeom>
              <a:solidFill>
                <a:srgbClr val="2A9D8F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0"/>
              <p:cNvSpPr/>
              <p:nvPr/>
            </p:nvSpPr>
            <p:spPr>
              <a:xfrm>
                <a:off x="133350" y="114300"/>
                <a:ext cx="190500" cy="228600"/>
              </a:xfrm>
              <a:custGeom>
                <a:rect b="b" l="l" r="r" t="t"/>
                <a:pathLst>
                  <a:path extrusionOk="0" h="120000" w="120000">
                    <a:moveTo>
                      <a:pt x="12000" y="0"/>
                    </a:moveTo>
                    <a:lnTo>
                      <a:pt x="108000" y="0"/>
                    </a:lnTo>
                    <a:cubicBezTo>
                      <a:pt x="114600" y="0"/>
                      <a:pt x="120000" y="4500"/>
                      <a:pt x="120000" y="10000"/>
                    </a:cubicBezTo>
                    <a:lnTo>
                      <a:pt x="120000" y="110000"/>
                    </a:lnTo>
                    <a:cubicBezTo>
                      <a:pt x="120000" y="115500"/>
                      <a:pt x="114600" y="120000"/>
                      <a:pt x="108000" y="120000"/>
                    </a:cubicBezTo>
                    <a:lnTo>
                      <a:pt x="12000" y="120000"/>
                    </a:lnTo>
                    <a:cubicBezTo>
                      <a:pt x="5400" y="120000"/>
                      <a:pt x="0" y="115500"/>
                      <a:pt x="0" y="110000"/>
                    </a:cubicBezTo>
                    <a:lnTo>
                      <a:pt x="0" y="10000"/>
                    </a:lnTo>
                    <a:cubicBezTo>
                      <a:pt x="0" y="4500"/>
                      <a:pt x="5400" y="0"/>
                      <a:pt x="120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0"/>
              <p:cNvSpPr/>
              <p:nvPr/>
            </p:nvSpPr>
            <p:spPr>
              <a:xfrm>
                <a:off x="209550" y="295275"/>
                <a:ext cx="381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0"/>
              <p:cNvSpPr/>
              <p:nvPr/>
            </p:nvSpPr>
            <p:spPr>
              <a:xfrm>
                <a:off x="185738" y="157163"/>
                <a:ext cx="28500" cy="285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0"/>
              <p:cNvSpPr/>
              <p:nvPr/>
            </p:nvSpPr>
            <p:spPr>
              <a:xfrm>
                <a:off x="242888" y="214313"/>
                <a:ext cx="28500" cy="28500"/>
              </a:xfrm>
              <a:prstGeom prst="ellipse">
                <a:avLst/>
              </a:prstGeom>
              <a:solidFill>
                <a:srgbClr val="2A9D8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6" name="Google Shape;296;p20"/>
              <p:cNvCxnSpPr/>
              <p:nvPr/>
            </p:nvCxnSpPr>
            <p:spPr>
              <a:xfrm flipH="1">
                <a:off x="199875" y="161925"/>
                <a:ext cx="57300" cy="76200"/>
              </a:xfrm>
              <a:prstGeom prst="straightConnector1">
                <a:avLst/>
              </a:prstGeom>
              <a:solidFill>
                <a:srgbClr val="FFFFFF"/>
              </a:solidFill>
              <a:ln cap="rnd" cmpd="sng" w="23825">
                <a:solidFill>
                  <a:srgbClr val="2A9D8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97" name="Google Shape;297;p20"/>
            <p:cNvSpPr txBox="1"/>
            <p:nvPr/>
          </p:nvSpPr>
          <p:spPr>
            <a:xfrm>
              <a:off x="228600" y="914400"/>
              <a:ext cx="21336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Mobile Money Discounts</a:t>
              </a:r>
              <a:endParaRPr b="1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E5E7EB"/>
                  </a:solidFill>
                  <a:latin typeface="Inter"/>
                  <a:ea typeface="Inter"/>
                  <a:cs typeface="Inter"/>
                  <a:sym typeface="Inter"/>
                </a:rPr>
                <a:t>Offer 5% discount for Mobile Money.</a:t>
              </a:r>
              <a:endParaRPr b="0" sz="1050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